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868680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2A44"/>
                </a:solidFill>
                <a:latin typeface="Noto Sans"/>
              </a:rPr>
              <a:t>Analisis HR Attrition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E4D7A"/>
                </a:solidFill>
                <a:latin typeface="Noto Sans"/>
              </a:rPr>
              <a:t>People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60604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0B2A44"/>
                </a:solidFill>
                <a:latin typeface="Noto Sans"/>
              </a:rPr>
              <a:t>Kenapa karyawan resign, siapa yang paling berisiko, dan apa pemicu terbesarnya.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B2A44"/>
                </a:solidFill>
                <a:latin typeface="Noto Sans"/>
              </a:rPr>
              <a:t>Studi kasus IBM HR Analytics Employee Attrition, dianalisis dengan SQL (SQLite) dan Python.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4D7A"/>
                </a:solidFill>
                <a:latin typeface="Noto Sans"/>
              </a:rPr>
              <a:t>BAGHIZ ASSHIDDIQIE ARASYA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85432" y="850392"/>
            <a:ext cx="4892040" cy="4160520"/>
          </a:xfrm>
          <a:prstGeom prst="roundRect">
            <a:avLst>
              <a:gd name="adj" fmla="val 5500"/>
            </a:avLst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12280" y="777240"/>
            <a:ext cx="4892040" cy="4160520"/>
          </a:xfrm>
          <a:prstGeom prst="roundRect">
            <a:avLst>
              <a:gd name="adj" fmla="val 5500"/>
            </a:avLst>
          </a:prstGeom>
          <a:solidFill>
            <a:srgbClr val="0E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234440"/>
            <a:ext cx="40233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E9F2"/>
                </a:solidFill>
                <a:latin typeface="Noto Sans"/>
              </a:rPr>
              <a:t>ATTRITION RATE KESELURUHAN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F5C542"/>
                </a:solidFill>
                <a:latin typeface="Noto Sans"/>
              </a:rPr>
              <a:t>16,1%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Noto Sans"/>
              </a:rPr>
              <a:t>237 dari 1.470 karyawan resign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CE9F2"/>
                </a:solidFill>
                <a:latin typeface="Noto Sans"/>
              </a:rPr>
              <a:t>Peran paling berisiko: Sales Representative dengan 39,8%. Lembur menaikkan risiko resign hampir tiga kali lipat.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5230368"/>
            <a:ext cx="4892040" cy="713232"/>
          </a:xfrm>
          <a:prstGeom prst="roundRect">
            <a:avLst>
              <a:gd name="adj" fmla="val 5500"/>
            </a:avLst>
          </a:prstGeom>
          <a:solidFill>
            <a:srgbClr val="E5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5358384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"/>
              </a:rPr>
              <a:t>Plus paket dashboard Power BI: star schema, DAX, panduan rakit.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2A44"/>
                </a:solidFill>
                <a:latin typeface="Noto Sans"/>
              </a:rPr>
              <a:t>Latar Belakang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1097280"/>
            <a:ext cx="777240" cy="82296"/>
          </a:xfrm>
          <a:prstGeom prst="roundRect">
            <a:avLst>
              <a:gd name="adj" fmla="val 5500"/>
            </a:avLst>
          </a:prstGeom>
          <a:solidFill>
            <a:srgbClr val="E5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6903720" cy="4206240"/>
          </a:xfrm>
          <a:prstGeom prst="roundRect">
            <a:avLst>
              <a:gd name="adj" fmla="val 5500"/>
            </a:avLst>
          </a:prstGeom>
          <a:solidFill>
            <a:srgbClr val="DF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6903720" cy="420624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62179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Dataset IBM HR Analytics berisi 1.470 karyawan dengan 35 kolom data: demografi, pekerjaan, kompensasi, dan kepuasan kerja.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Pertanyaan utama analisis ini: kenapa karyawan resign, dan siapa yang paling berisiko pergi?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Attrition rate keseluruhan 16,1% atau 237 karyawan. Setiap resign berarti biaya rekrutmen, pelatihan ulang, dan pengetahuan yang hilang, jadi polanya layak dibaca sebagai sinyal manajemen, bukan sekadar statistik.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417320"/>
            <a:ext cx="3959352" cy="1207008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581912"/>
            <a:ext cx="33832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E5322D"/>
                </a:solidFill>
                <a:latin typeface="Noto Sans"/>
              </a:rPr>
              <a:t>1.470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B2A44"/>
                </a:solidFill>
                <a:latin typeface="Noto Sans"/>
              </a:rPr>
              <a:t>karyawan tercatat di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770632"/>
            <a:ext cx="3959352" cy="1207008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935224"/>
            <a:ext cx="33832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E5322D"/>
                </a:solidFill>
                <a:latin typeface="Noto Sans"/>
              </a:rPr>
              <a:t>237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B2A44"/>
                </a:solidFill>
                <a:latin typeface="Noto Sans"/>
              </a:rPr>
              <a:t>karyawan resign dari keseluruhan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123944"/>
            <a:ext cx="3959352" cy="1499616"/>
          </a:xfrm>
          <a:prstGeom prst="roundRect">
            <a:avLst>
              <a:gd name="adj" fmla="val 5500"/>
            </a:avLst>
          </a:prstGeom>
          <a:solidFill>
            <a:srgbClr val="0E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288536"/>
            <a:ext cx="338328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5C542"/>
                </a:solidFill>
                <a:latin typeface="Noto Sans"/>
              </a:rPr>
              <a:t>39,8%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CE9F2"/>
                </a:solidFill>
                <a:latin typeface="Noto Sans"/>
              </a:rPr>
              <a:t>attrition Sales Representative, peran tertinggi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186"/>
                </a:solidFill>
                <a:latin typeface="Noto Sans"/>
              </a:rPr>
              <a:t>Sumber data: IBM HR Analytics Employee Attrition (dataset sampel publik untuk pembelajaran).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2A44"/>
                </a:solidFill>
                <a:latin typeface="Noto Sans"/>
              </a:rPr>
              <a:t>Data dan Metodologi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1097280"/>
            <a:ext cx="777240" cy="82296"/>
          </a:xfrm>
          <a:prstGeom prst="roundRect">
            <a:avLst>
              <a:gd name="adj" fmla="val 5500"/>
            </a:avLst>
          </a:prstGeom>
          <a:solidFill>
            <a:srgbClr val="E5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291840" cy="2011680"/>
          </a:xfrm>
          <a:prstGeom prst="roundRect">
            <a:avLst>
              <a:gd name="adj" fmla="val 5500"/>
            </a:avLst>
          </a:prstGeom>
          <a:solidFill>
            <a:srgbClr val="0E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5C542"/>
                </a:solidFill>
                <a:latin typeface="Noto Sans"/>
              </a:rPr>
              <a:t>1.470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CE9F2"/>
                </a:solidFill>
                <a:latin typeface="Noto Sans"/>
              </a:rPr>
              <a:t>karyawan dianalisis, satu baris per orang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11880"/>
            <a:ext cx="3291840" cy="201168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E5322D"/>
                </a:solidFill>
                <a:latin typeface="Noto Sans"/>
              </a:rPr>
              <a:t>35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B2A44"/>
                </a:solidFill>
                <a:latin typeface="Noto Sans"/>
              </a:rPr>
              <a:t>kolom data per karyawan: demografi sampai kepuasan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78808" y="1481328"/>
            <a:ext cx="7571231" cy="4206240"/>
          </a:xfrm>
          <a:prstGeom prst="roundRect">
            <a:avLst>
              <a:gd name="adj" fmla="val 5500"/>
            </a:avLst>
          </a:prstGeom>
          <a:solidFill>
            <a:srgbClr val="DF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1417320"/>
            <a:ext cx="7571231" cy="420624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55648"/>
            <a:ext cx="685800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0B2A44"/>
                </a:solidFill>
                <a:latin typeface="Noto Sans"/>
              </a:rPr>
              <a:t>Data dimuat ke SQLite, lalu dianalisis dengan query SQL asli: agregasi, grouping, dan perbandingan antar segmen. Pandas dipakai untuk eksplorasi lanjutan dan pembuatan 12 chart visual.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0B2A44"/>
                </a:solidFill>
                <a:latin typeface="Noto Sans"/>
              </a:rPr>
              <a:t>Attrition didefinisikan sebagai kolom Attrition bernilai Yes; attrition rate adalah jumlah Yes dibagi total karyawan pada segmen yang sama.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0B2A44"/>
                </a:solidFill>
                <a:latin typeface="Noto Sans"/>
              </a:rPr>
              <a:t>Tidak ada baris yang dihapus pada pembersihan: seluruh 1.470 baris data mentah utuh dan setiap karyawan dihitung tepat satu kali.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2A44"/>
                </a:solidFill>
                <a:latin typeface="Noto Sans"/>
              </a:rPr>
              <a:t>Temuan 1: Role Paling Berisiko Resign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1097280"/>
            <a:ext cx="777240" cy="82296"/>
          </a:xfrm>
          <a:prstGeom prst="roundRect">
            <a:avLst>
              <a:gd name="adj" fmla="val 5500"/>
            </a:avLst>
          </a:prstGeom>
          <a:solidFill>
            <a:srgbClr val="E5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4526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Sales Representative mencatat attrition 39,8%, hampir 2,5 kali rata-rata perusahaan (16,1%).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Menyusul Laboratory Technician (23,9%) dan staf Human Resources (23,1%). Peran paling aman: Research Director, hanya 2,5%.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Per departemen: Sales tertinggi (20,6%), lalu Human Resources (19,0%), dan Research and Development (13,8%).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846320"/>
            <a:ext cx="4526280" cy="1170432"/>
          </a:xfrm>
          <a:prstGeom prst="roundRect">
            <a:avLst>
              <a:gd name="adj" fmla="val 5500"/>
            </a:avLst>
          </a:prstGeom>
          <a:solidFill>
            <a:srgbClr val="0E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10912"/>
            <a:ext cx="402336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5C542"/>
                </a:solidFill>
                <a:latin typeface="Noto Sans"/>
              </a:rPr>
              <a:t>39,8%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CE9F2"/>
                </a:solidFill>
                <a:latin typeface="Noto Sans"/>
              </a:rPr>
              <a:t>attrition Sales Representative, tertinggi di perusahaan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3248" y="1481328"/>
            <a:ext cx="6336792" cy="3977639"/>
          </a:xfrm>
          <a:prstGeom prst="roundRect">
            <a:avLst>
              <a:gd name="adj" fmla="val 5500"/>
            </a:avLst>
          </a:prstGeom>
          <a:solidFill>
            <a:srgbClr val="DF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49240" y="1417320"/>
            <a:ext cx="6336792" cy="3977639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attrition_job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1704182"/>
            <a:ext cx="5934455" cy="34039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9240" y="5486399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7186"/>
                </a:solidFill>
                <a:latin typeface="Noto Sans"/>
              </a:rPr>
              <a:t>Chart: attrition rate per job role.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2A44"/>
                </a:solidFill>
                <a:latin typeface="Noto Sans"/>
              </a:rPr>
              <a:t>Temuan 2: Lembur Melipatgandakan Risiko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1097280"/>
            <a:ext cx="777240" cy="82296"/>
          </a:xfrm>
          <a:prstGeom prst="roundRect">
            <a:avLst>
              <a:gd name="adj" fmla="val 5500"/>
            </a:avLst>
          </a:prstGeom>
          <a:solidFill>
            <a:srgbClr val="E5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4572000" cy="1783080"/>
          </a:xfrm>
          <a:prstGeom prst="roundRect">
            <a:avLst>
              <a:gd name="adj" fmla="val 5500"/>
            </a:avLst>
          </a:prstGeom>
          <a:solidFill>
            <a:srgbClr val="0E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39776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5C542"/>
                </a:solidFill>
                <a:latin typeface="Noto Sans"/>
              </a:rPr>
              <a:t>30,5%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CE9F2"/>
                </a:solidFill>
                <a:latin typeface="Noto Sans"/>
              </a:rPr>
              <a:t>attrition karyawan lembur, vs 10,4% yang tidak lembur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29000"/>
            <a:ext cx="4572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0B2A44"/>
                </a:solidFill>
                <a:latin typeface="Noto Sans"/>
              </a:rPr>
              <a:t>Karyawan yang lembur resign 30,5%, dibanding 10,4% untuk yang tidak lembur: risiko hampir 3 kali lipat (rasio 2,9 kali).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0B2A44"/>
                </a:solidFill>
                <a:latin typeface="Noto Sans"/>
              </a:rPr>
              <a:t>Dari 416 karyawan lembur (28,3% dari seluruh karyawan), 127 di antaranya resign.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0B2A44"/>
                </a:solidFill>
                <a:latin typeface="Noto Sans"/>
              </a:rPr>
              <a:t>Ini sinyal kuat burnout, terutama di tim Sales dan laboratorium yang lemburnya paling berat.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58968" y="1481328"/>
            <a:ext cx="6291072" cy="4206240"/>
          </a:xfrm>
          <a:prstGeom prst="roundRect">
            <a:avLst>
              <a:gd name="adj" fmla="val 5500"/>
            </a:avLst>
          </a:prstGeom>
          <a:solidFill>
            <a:srgbClr val="DF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94960" y="1417320"/>
            <a:ext cx="6291072" cy="420624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attrition_over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762" y="1618488"/>
            <a:ext cx="5501467" cy="38039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4960" y="5714999"/>
            <a:ext cx="6291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7186"/>
                </a:solidFill>
                <a:latin typeface="Noto Sans"/>
              </a:rPr>
              <a:t>Chart: attrition rate lembur vs tidak lembur.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2A44"/>
                </a:solidFill>
                <a:latin typeface="Noto Sans"/>
              </a:rPr>
              <a:t>Temuan 3: Gaji Rendah, Muda, dan Baru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1097280"/>
            <a:ext cx="777240" cy="82296"/>
          </a:xfrm>
          <a:prstGeom prst="roundRect">
            <a:avLst>
              <a:gd name="adj" fmla="val 5500"/>
            </a:avLst>
          </a:prstGeom>
          <a:solidFill>
            <a:srgbClr val="E5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5120640" cy="3520440"/>
          </a:xfrm>
          <a:prstGeom prst="roundRect">
            <a:avLst>
              <a:gd name="adj" fmla="val 5500"/>
            </a:avLst>
          </a:prstGeom>
          <a:solidFill>
            <a:srgbClr val="DF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120640" cy="352044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attrition_income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45808"/>
            <a:ext cx="4718303" cy="28634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292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7186"/>
                </a:solidFill>
                <a:latin typeface="Noto Sans"/>
              </a:rPr>
              <a:t>Chart: attrition rate per band gaji bulanan.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481328"/>
            <a:ext cx="57150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Gaji bulanan di bawah USD 3.000 resign 28,6%, jauh di atas band gaji lain yang berkisar 9-13%.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Karyawan di bawah 30 tahun resign 27,9%, lalu turun bertahap sampai 9,7% di usia 40-an. Masa kerja 0-2 tahun resign 29,8%, turun ke 8,1% setelah 11 tahun.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Pola jelas: risiko resign menumpuk pada karyawan bergaji rendah, muda, dan baru bergabung.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193792"/>
            <a:ext cx="11183112" cy="932688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9496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4D7A"/>
                </a:solidFill>
                <a:latin typeface="Noto Sans"/>
              </a:rPr>
              <a:t>Gaji di bawah USD 3.000: 28,6% resign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2A44"/>
                </a:solidFill>
                <a:latin typeface="Noto Sans"/>
              </a:rPr>
              <a:t>Temuan 4: Kepuasan Rendah, Resign Tinggi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1097280"/>
            <a:ext cx="777240" cy="82296"/>
          </a:xfrm>
          <a:prstGeom prst="roundRect">
            <a:avLst>
              <a:gd name="adj" fmla="val 5500"/>
            </a:avLst>
          </a:prstGeom>
          <a:solidFill>
            <a:srgbClr val="E5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4526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Work-life balance buruk mencatat attrition 31,3%, faktor tunggal tertinggi dalam analisis kepuasan.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Kepuasan lingkungan rendah 25,4% (vs sangat tinggi 13,5%); kepuasan kerja rendah 22,8% (vs sangat tinggi 11,3%).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Survei kepuasan rutin bisa menjadi sistem peringatan dini: sinyalnya muncul sebelum karyawan benar-benar pergi.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846320"/>
            <a:ext cx="4526280" cy="1170432"/>
          </a:xfrm>
          <a:prstGeom prst="roundRect">
            <a:avLst>
              <a:gd name="adj" fmla="val 5500"/>
            </a:avLst>
          </a:prstGeom>
          <a:solidFill>
            <a:srgbClr val="0E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10912"/>
            <a:ext cx="402336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5C542"/>
                </a:solidFill>
                <a:latin typeface="Noto Sans"/>
              </a:rPr>
              <a:t>31,3%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CE9F2"/>
                </a:solidFill>
                <a:latin typeface="Noto Sans"/>
              </a:rPr>
              <a:t>attrition pada work-life balance buruk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3248" y="1481328"/>
            <a:ext cx="6336792" cy="3977639"/>
          </a:xfrm>
          <a:prstGeom prst="roundRect">
            <a:avLst>
              <a:gd name="adj" fmla="val 5500"/>
            </a:avLst>
          </a:prstGeom>
          <a:solidFill>
            <a:srgbClr val="DF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49240" y="1417320"/>
            <a:ext cx="6336792" cy="3977639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attrition_worklife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012" y="1618488"/>
            <a:ext cx="5891247" cy="35753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9240" y="5486399"/>
            <a:ext cx="6336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7186"/>
                </a:solidFill>
                <a:latin typeface="Noto Sans"/>
              </a:rPr>
              <a:t>Chart: attrition rate per tingkat work-life balance.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2A44"/>
                </a:solidFill>
                <a:latin typeface="Noto Sans"/>
              </a:rPr>
              <a:t>Temuan 5: Jarak, Dinas, dan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1097280"/>
            <a:ext cx="777240" cy="82296"/>
          </a:xfrm>
          <a:prstGeom prst="roundRect">
            <a:avLst>
              <a:gd name="adj" fmla="val 5500"/>
            </a:avLst>
          </a:prstGeom>
          <a:solidFill>
            <a:srgbClr val="E5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5120640" cy="3520440"/>
          </a:xfrm>
          <a:prstGeom prst="roundRect">
            <a:avLst>
              <a:gd name="adj" fmla="val 5500"/>
            </a:avLst>
          </a:prstGeom>
          <a:solidFill>
            <a:srgbClr val="DF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120640" cy="352044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_attrition_demografi_tra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18" y="1618488"/>
            <a:ext cx="4554243" cy="3118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292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7186"/>
                </a:solidFill>
                <a:latin typeface="Noto Sans"/>
              </a:rPr>
              <a:t>Chart: attrition menurut demografi dan frekuensi dinas.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481328"/>
            <a:ext cx="57150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Jarak rumah 15 km atau lebih resign 20,6%, naik bertahap dari 13,6% untuk jarak dekat.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Karyawan yang sering dinas resign 24,9%, dibanding tidak pernah dinas hanya 8,0%. Status single resign 25,5%, dua kali lipat dibanding menikah (12,5%).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0B2A44"/>
                </a:solidFill>
                <a:latin typeface="Noto Sans"/>
              </a:rPr>
              <a:t>Stagnasi juga berbahaya: karyawan 6 tahun atau lebih tanpa promosi kembali berisiko, dengan attrition 16,3%.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193792"/>
            <a:ext cx="11183112" cy="932688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9496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4D7A"/>
                </a:solidFill>
                <a:latin typeface="Noto Sans"/>
              </a:rPr>
              <a:t>Sering dinas: 24,9% resign, vs 8,0% tidak pernah dinas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2A44"/>
                </a:solidFill>
                <a:latin typeface="Noto Sans"/>
              </a:rPr>
              <a:t>Dashboard Power BI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1097280"/>
            <a:ext cx="777240" cy="82296"/>
          </a:xfrm>
          <a:prstGeom prst="roundRect">
            <a:avLst>
              <a:gd name="adj" fmla="val 5500"/>
            </a:avLst>
          </a:prstGeom>
          <a:solidFill>
            <a:srgbClr val="E5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6903720" cy="4160520"/>
          </a:xfrm>
          <a:prstGeom prst="roundRect">
            <a:avLst>
              <a:gd name="adj" fmla="val 5500"/>
            </a:avLst>
          </a:prstGeom>
          <a:solidFill>
            <a:srgbClr val="DF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6903720" cy="416052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preview_halama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69065"/>
            <a:ext cx="6501383" cy="36570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69279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7186"/>
                </a:solidFill>
                <a:latin typeface="Noto Sans"/>
              </a:rPr>
              <a:t>Pratinjau halaman 1 dashboard, dirender dari kit Power BI proyek ini.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417320"/>
            <a:ext cx="3959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4D7A"/>
                </a:solidFill>
                <a:latin typeface="Noto Sans"/>
              </a:rPr>
              <a:t>ISI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10512"/>
            <a:ext cx="3959352" cy="73152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3568" y="1901952"/>
            <a:ext cx="3520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5322D"/>
                </a:solidFill>
                <a:latin typeface="Noto Sans"/>
              </a:rPr>
              <a:t>Halaman 1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A44"/>
                </a:solidFill>
                <a:latin typeface="Noto Sans"/>
              </a:rPr>
              <a:t>Ringkasan Eksekutif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651760"/>
            <a:ext cx="3959352" cy="73152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2743200"/>
            <a:ext cx="3520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5322D"/>
                </a:solidFill>
                <a:latin typeface="Noto Sans"/>
              </a:rPr>
              <a:t>Halaman 2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A44"/>
                </a:solidFill>
                <a:latin typeface="Noto Sans"/>
              </a:rPr>
              <a:t>Segmen Risiko: Peran, Gaji, Usia, Masa Kerja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493008"/>
            <a:ext cx="3959352" cy="73152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3584448"/>
            <a:ext cx="3520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5322D"/>
                </a:solidFill>
                <a:latin typeface="Noto Sans"/>
              </a:rPr>
              <a:t>Halaman 3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A44"/>
                </a:solidFill>
                <a:latin typeface="Noto Sans"/>
              </a:rPr>
              <a:t>Kepuasan dan Kondisi Kerja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334256"/>
            <a:ext cx="3959352" cy="73152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4425696"/>
            <a:ext cx="3520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5322D"/>
                </a:solidFill>
                <a:latin typeface="Noto Sans"/>
              </a:rPr>
              <a:t>Halaman 4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A44"/>
                </a:solidFill>
                <a:latin typeface="Noto Sans"/>
              </a:rPr>
              <a:t>Profil, Perbandingan Gaji, dan Metodologi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5212080"/>
            <a:ext cx="3959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A44"/>
                </a:solidFill>
                <a:latin typeface="Noto Sans"/>
              </a:rPr>
              <a:t>Satu tabel fakta berisi 1.470 karyawan dan tiga dimensi; angka KPI dashboard cocok dengan tabel verifikasi pada kit.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961888"/>
            <a:ext cx="11183112" cy="603504"/>
          </a:xfrm>
          <a:prstGeom prst="roundRect">
            <a:avLst>
              <a:gd name="adj" fmla="val 5500"/>
            </a:avLst>
          </a:prstGeom>
          <a:solidFill>
            <a:srgbClr val="0E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961888"/>
            <a:ext cx="10698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"/>
              </a:rPr>
              <a:t>HR-Attrition-Analytics.pbix</a:t>
            </a:r>
            <a:r>
              <a:rPr sz="1250" b="0">
                <a:solidFill>
                  <a:srgbClr val="DCE9F2"/>
                </a:solidFill>
                <a:latin typeface="Noto Sans"/>
              </a:rPr>
              <a:t>: star schema, measure DAX terverifikasi, layout 4 halaman, dan panduan rakit ada di folder powerbi pada repo ini.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2A44"/>
                </a:solidFill>
                <a:latin typeface="Noto Sans"/>
              </a:rPr>
              <a:t>Penutup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1097280"/>
            <a:ext cx="777240" cy="82296"/>
          </a:xfrm>
          <a:prstGeom prst="roundRect">
            <a:avLst>
              <a:gd name="adj" fmla="val 5500"/>
            </a:avLst>
          </a:prstGeom>
          <a:solidFill>
            <a:srgbClr val="E5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35608"/>
            <a:ext cx="6720840" cy="3246120"/>
          </a:xfrm>
          <a:prstGeom prst="roundRect">
            <a:avLst>
              <a:gd name="adj" fmla="val 5500"/>
            </a:avLst>
          </a:prstGeom>
          <a:solidFill>
            <a:srgbClr val="DF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6720840" cy="3246120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60350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E4D7A"/>
                </a:solidFill>
                <a:latin typeface="Noto Sans"/>
              </a:rPr>
              <a:t>Kesimpulan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B2A44"/>
                </a:solidFill>
                <a:latin typeface="Noto Sans"/>
              </a:rPr>
              <a:t>Lembur, gaji rendah, dan masa kerja pendek adalah tiga pendorong resign terbesar. Fokus retensi pada Sales Representative, karyawan muda, dan dua tahun pertama masa kerja.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71600"/>
            <a:ext cx="4142232" cy="1536192"/>
          </a:xfrm>
          <a:prstGeom prst="roundRect">
            <a:avLst>
              <a:gd name="adj" fmla="val 5500"/>
            </a:avLst>
          </a:prstGeom>
          <a:solidFill>
            <a:srgbClr val="0E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72768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5C542"/>
                </a:solidFill>
                <a:latin typeface="Noto Sans"/>
              </a:rPr>
              <a:t>Rekomendasi utama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CE9F2"/>
                </a:solidFill>
                <a:latin typeface="Noto Sans"/>
              </a:rPr>
              <a:t>Onboarding terstruktur 2 tahun pertama; kelola lembur dengan ketat; tinjau gaji dan jalur promosi peran rawan; survei kepuasan sebagai pemicu intervensi dini.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081528"/>
            <a:ext cx="4142232" cy="1536192"/>
          </a:xfrm>
          <a:prstGeom prst="roundRect">
            <a:avLst>
              <a:gd name="adj" fmla="val 5500"/>
            </a:avLst>
          </a:prstGeom>
          <a:solidFill>
            <a:srgbClr val="FD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282696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4D7A"/>
                </a:solidFill>
                <a:latin typeface="Noto Sans"/>
              </a:rPr>
              <a:t>Terbuka untuk direproduksi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2A44"/>
                </a:solidFill>
                <a:latin typeface="Noto Sans"/>
              </a:rPr>
              <a:t>Notebook analisis, query SQL, dan dataset terbuka di repo untuk dihitung ulang dari nol.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83112" cy="1463040"/>
          </a:xfrm>
          <a:prstGeom prst="roundRect">
            <a:avLst>
              <a:gd name="adj" fmla="val 5500"/>
            </a:avLst>
          </a:prstGeom>
          <a:solidFill>
            <a:srgbClr val="0E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"/>
              </a:rPr>
              <a:t>BAGHIZ ASSHIDDIQIE ARASYA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5C542"/>
                </a:solidFill>
                <a:latin typeface="Noto Sans"/>
              </a:rPr>
              <a:t>github.com/baghizash/ibm-hr-attrition-people-analytics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321808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CE9F2"/>
                </a:solidFill>
                <a:latin typeface="Noto Sans"/>
              </a:rPr>
              <a:t>Terima kasih. Silakan jelajahi repo dan dashboardnya, semua angka terbuka untuk dicek ulang.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