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0E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53535" cy="128016"/>
          </a:xfrm>
          <a:prstGeom prst="rect">
            <a:avLst/>
          </a:prstGeom>
          <a:solidFill>
            <a:srgbClr val="F5C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49640" y="2148840"/>
            <a:ext cx="3337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6600" b="1" i="0">
                <a:solidFill>
                  <a:srgbClr val="F5C542"/>
                </a:solidFill>
                <a:latin typeface="Noto Sans"/>
              </a:rPr>
              <a:t>16,1%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Noto Sans"/>
              </a:rPr>
              <a:t>attrition rate keseluruhan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D6E2"/>
                </a:solidFill>
                <a:latin typeface="Noto Sans"/>
              </a:rPr>
              <a:t>237 dari 1.470 karyawan resign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6858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0B2A44"/>
                </a:solidFill>
                <a:latin typeface="Noto Sans"/>
              </a:rPr>
              <a:t>Analisis HR Attrition dengan SQL dan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0E4D7A"/>
                </a:solidFill>
                <a:latin typeface="Noto Sans"/>
              </a:rPr>
              <a:t>Studi Kasus: IBM HR Analytics Employee Attrition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49240"/>
            <a:ext cx="6675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E4D7A"/>
                </a:solidFill>
                <a:latin typeface="Noto Sans"/>
              </a:rPr>
              <a:t>BAGHIZ ASSHIDDIQIE ARASYA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4626F"/>
                </a:solidFill>
                <a:latin typeface="Noto Sans"/>
              </a:rPr>
              <a:t>Data Analyst Portfolio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0B2A44"/>
                </a:solidFill>
                <a:latin typeface="Noto Sans"/>
              </a:rPr>
              <a:t>Latar Belakang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6675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0"/>
              </a:spcBef>
              <a:spcAft>
                <a:spcPts val="16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Dataset IBM HR Analytics: 1.470 karyawan dengan 35 kolom data demografi, pekerjaan, kompensasi, dan kepuasan</a:t>
            </a:r>
          </a:p>
          <a:p>
            <a:pPr marL="171450" indent="-171450">
              <a:spcBef>
                <a:spcPts val="0"/>
              </a:spcBef>
              <a:spcAft>
                <a:spcPts val="16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Pertanyaan utama: kenapa karyawan resign dan siapa yang paling berisiko pergi</a:t>
            </a:r>
          </a:p>
          <a:p>
            <a:pPr marL="171450" indent="-171450">
              <a:spcBef>
                <a:spcPts val="0"/>
              </a:spcBef>
              <a:spcAft>
                <a:spcPts val="16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Attrition rate keseluruhan 16,1 persen atau 237 karyawan, angka yang cukup tinggi untuk diabaikan</a:t>
            </a:r>
          </a:p>
          <a:p>
            <a:pPr marL="171450" indent="-171450">
              <a:spcBef>
                <a:spcPts val="0"/>
              </a:spcBef>
              <a:spcAft>
                <a:spcPts val="16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Tujuan analisis: menemukan faktor pendorong resign lalu menyusun rekomendasi retensi yang konkret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164592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0E4D7A"/>
                </a:solidFill>
                <a:latin typeface="Noto Sans"/>
              </a:rPr>
              <a:t>1.470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4626F"/>
                </a:solidFill>
                <a:latin typeface="Noto Sans"/>
              </a:rPr>
              <a:t>karyawan tercatat di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306324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0E4D7A"/>
                </a:solidFill>
                <a:latin typeface="Noto Sans"/>
              </a:rPr>
              <a:t>35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4626F"/>
                </a:solidFill>
                <a:latin typeface="Noto Sans"/>
              </a:rPr>
              <a:t>kolom data per karyawan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448056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0E4D7A"/>
                </a:solidFill>
                <a:latin typeface="Noto Sans"/>
              </a:rPr>
              <a:t>237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4626F"/>
                </a:solidFill>
                <a:latin typeface="Noto Sans"/>
              </a:rPr>
              <a:t>karyawan resign dari keseluruhan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0B2A44"/>
                </a:solidFill>
                <a:latin typeface="Noto Sans"/>
              </a:rPr>
              <a:t>Data dan Metodologi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0"/>
              </a:spcBef>
              <a:spcAft>
                <a:spcPts val="16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Data dimuat ke SQLite lalu dianalisis dengan query SQL asli: agregasi, grouping, dan perbandingan antar segmen</a:t>
            </a:r>
          </a:p>
          <a:p>
            <a:pPr marL="171450" indent="-171450">
              <a:spcBef>
                <a:spcPts val="0"/>
              </a:spcBef>
              <a:spcAft>
                <a:spcPts val="16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Pandas dipakai untuk eksplorasi lanjutan dan pembuatan 12 chart visual</a:t>
            </a:r>
          </a:p>
          <a:p>
            <a:pPr marL="171450" indent="-171450">
              <a:spcBef>
                <a:spcPts val="0"/>
              </a:spcBef>
              <a:spcAft>
                <a:spcPts val="16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Attrition didefinisikan sebagai kolom Attrition bernilai Yes; rate dihitung sebagai Yes dibagi total karyawan</a:t>
            </a:r>
          </a:p>
          <a:p>
            <a:pPr marL="171450" indent="-171450">
              <a:spcBef>
                <a:spcPts val="0"/>
              </a:spcBef>
              <a:spcAft>
                <a:spcPts val="16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Segmen yang dianalisis: departemen, job role, lembur, band gaji, kelompok umur, jarak rumah, kepuasan, masa kerja, demografi, dan frekuensi dinas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212080"/>
            <a:ext cx="10908792" cy="868680"/>
          </a:xfrm>
          <a:prstGeom prst="rect">
            <a:avLst/>
          </a:prstGeom>
          <a:solidFill>
            <a:srgbClr val="0E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4068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Noto Sans"/>
              </a:rPr>
              <a:t>Alur kerja: file CSV dimuat ke SQLite, dianalisis dengan query SQL, dieksplorasi dengan pandas, lalu divisualisasi menjadi 12 chart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0B2A44"/>
                </a:solidFill>
                <a:latin typeface="Noto Sans"/>
              </a:rPr>
              <a:t>Temuan 1: Role Paling Berisiko Resign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6200" b="1" i="0">
                <a:solidFill>
                  <a:srgbClr val="E5322D"/>
                </a:solidFill>
                <a:latin typeface="Noto Sans"/>
              </a:rPr>
              <a:t>39,8%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B2A44"/>
                </a:solidFill>
                <a:latin typeface="Noto Sans"/>
              </a:rPr>
              <a:t>attrition Sales Representative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8036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0"/>
              </a:spcBef>
              <a:spcAft>
                <a:spcPts val="1000"/>
              </a:spcAft>
              <a:buChar char="•"/>
            </a:pPr>
            <a:r>
              <a:rPr sz="1500" b="0" i="0">
                <a:solidFill>
                  <a:srgbClr val="0B2A44"/>
                </a:solidFill>
                <a:latin typeface="Noto Sans"/>
              </a:rPr>
              <a:t>Sales Representative mencatat attrition 39,8 persen, hampir 2,5 kali rata rata perusahaan</a:t>
            </a:r>
          </a:p>
          <a:p>
            <a:pPr marL="171450" indent="-171450">
              <a:spcBef>
                <a:spcPts val="0"/>
              </a:spcBef>
              <a:spcAft>
                <a:spcPts val="1000"/>
              </a:spcAft>
              <a:buChar char="•"/>
            </a:pPr>
            <a:r>
              <a:rPr sz="1500" b="0" i="0">
                <a:solidFill>
                  <a:srgbClr val="0B2A44"/>
                </a:solidFill>
                <a:latin typeface="Noto Sans"/>
              </a:rPr>
              <a:t>Laboratory Technician 23,9 persen dan staf Human Resources 23,1 persen menyusul di posisi berikutnya</a:t>
            </a:r>
          </a:p>
          <a:p>
            <a:pPr marL="171450" indent="-171450">
              <a:spcBef>
                <a:spcPts val="0"/>
              </a:spcBef>
              <a:spcAft>
                <a:spcPts val="1000"/>
              </a:spcAft>
              <a:buChar char="•"/>
            </a:pPr>
            <a:r>
              <a:rPr sz="1500" b="0" i="0">
                <a:solidFill>
                  <a:srgbClr val="0B2A44"/>
                </a:solidFill>
                <a:latin typeface="Noto Sans"/>
              </a:rPr>
              <a:t>Departemen Sales tertinggi 20,6 persen, lalu Human Resources 19,0 persen, Research and Development 13,8 persen</a:t>
            </a:r>
          </a:p>
          <a:p>
            <a:pPr marL="171450" indent="-171450">
              <a:spcBef>
                <a:spcPts val="0"/>
              </a:spcBef>
              <a:spcAft>
                <a:spcPts val="1000"/>
              </a:spcAft>
              <a:buChar char="•"/>
            </a:pPr>
            <a:r>
              <a:rPr sz="1500" b="0" i="0">
                <a:solidFill>
                  <a:srgbClr val="0B2A44"/>
                </a:solidFill>
                <a:latin typeface="Noto Sans"/>
              </a:rPr>
              <a:t>Sebaliknya Research Director hanya 2,5 persen dan Manager 4,9 persen, sangat stabil</a:t>
            </a:r>
          </a:p>
        </p:txBody>
      </p:sp>
      <p:pic>
        <p:nvPicPr>
          <p:cNvPr id="5" name="Picture 4" descr="03_attrition_job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554480"/>
            <a:ext cx="5760720" cy="33042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496847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200" b="0" i="1">
                <a:solidFill>
                  <a:srgbClr val="54626F"/>
                </a:solidFill>
                <a:latin typeface="Noto Sans"/>
              </a:rPr>
              <a:t>Attrition rate per job role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0B2A44"/>
                </a:solidFill>
                <a:latin typeface="Noto Sans"/>
              </a:rPr>
              <a:t>Temuan 2: Lembur Melipatgandakan Risiko</a:t>
            </a:r>
          </a:p>
        </p:txBody>
      </p:sp>
      <p:pic>
        <p:nvPicPr>
          <p:cNvPr id="3" name="Picture 2" descr="04_attrition_over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4846320" cy="3350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152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200" b="0" i="1">
                <a:solidFill>
                  <a:srgbClr val="54626F"/>
                </a:solidFill>
                <a:latin typeface="Noto Sans"/>
              </a:rPr>
              <a:t>Attrition rate: lembur vs tidak lembur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463040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5400" b="1" i="0">
                <a:solidFill>
                  <a:srgbClr val="0E4D7A"/>
                </a:solidFill>
                <a:latin typeface="Noto Sans"/>
              </a:rPr>
              <a:t>30,5%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B2A44"/>
                </a:solidFill>
                <a:latin typeface="Noto Sans"/>
              </a:rPr>
              <a:t>attrition karyawan yang lembur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283464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Karyawan yang lembur resign 30,5 persen, dibanding yang tidak lembur hanya 10,4 persen</a:t>
            </a:r>
          </a:p>
          <a:p>
            <a:pPr marL="171450" indent="-171450"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Artinya karyawan lembur berisiko hampir 3 kali lipat untuk pergi</a:t>
            </a:r>
          </a:p>
          <a:p>
            <a:pPr marL="171450" indent="-171450"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Dari 416 karyawan lembur, 127 di antaranya resign, porsi yang sangat besar</a:t>
            </a:r>
          </a:p>
          <a:p>
            <a:pPr marL="171450" indent="-171450"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Ini sinyal kuat burnout, terutama di tim Sales dan laboratorium yang lemburnya tinggi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0B2A44"/>
                </a:solidFill>
                <a:latin typeface="Noto Sans"/>
              </a:rPr>
              <a:t>Temuan 3: Gaji Rendah, Muda, dan Baru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Gaji di bawah 3.000 resign 28,6 persen, jauh di atas band gaji lain yang berkisar 9 sampai 13 persen</a:t>
            </a:r>
          </a:p>
          <a:p>
            <a:pPr marL="171450" indent="-17145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Karyawan di bawah 30 tahun resign 27,9 persen, lalu turun bertahap sampai 9,7 persen di usia 40an</a:t>
            </a:r>
          </a:p>
          <a:p>
            <a:pPr marL="171450" indent="-17145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Masa kerja 0 sampai 2 tahun resign 29,8 persen, lalu turun ke 8,1 persen setelah 11 tahun</a:t>
            </a:r>
          </a:p>
          <a:p>
            <a:pPr marL="171450" indent="-17145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Pola jelas: karyawan muda bergaji rendah di dua tahun pertama adalah kelompok paling rentan</a:t>
            </a:r>
          </a:p>
        </p:txBody>
      </p:sp>
      <p:pic>
        <p:nvPicPr>
          <p:cNvPr id="4" name="Picture 3" descr="05_attrition_income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91640"/>
            <a:ext cx="5486400" cy="3329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72200" y="51309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200" b="0" i="1">
                <a:solidFill>
                  <a:srgbClr val="54626F"/>
                </a:solidFill>
                <a:latin typeface="Noto Sans"/>
              </a:rPr>
              <a:t>Attrition rate per band gaji bulanan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0B2A44"/>
                </a:solidFill>
                <a:latin typeface="Noto Sans"/>
              </a:rPr>
              <a:t>Temuan 4: Kepuasan Rendah, Resign Tinggi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394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Work life balance buruk mencatat attrition 31,3 persen, faktor tunggal tertinggi dalam analisis kepuasan</a:t>
            </a:r>
          </a:p>
          <a:p>
            <a:pPr marL="171450" indent="-171450">
              <a:spcBef>
                <a:spcPts val="0"/>
              </a:spcBef>
              <a:spcAft>
                <a:spcPts val="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Kepuasan lingkungan rendah 25,4 persen dibanding sangat tinggi 13,5 persen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1463040"/>
            <a:ext cx="5349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Kepuasan kerja rendah 22,8 persen dibanding sangat tinggi 11,3 persen</a:t>
            </a:r>
          </a:p>
          <a:p>
            <a:pPr marL="171450" indent="-171450">
              <a:spcBef>
                <a:spcPts val="0"/>
              </a:spcBef>
              <a:spcAft>
                <a:spcPts val="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Survei kepuasan rutin bisa menjadi sistem peringatan dini sebelum karyawan benar benar pergi</a:t>
            </a:r>
          </a:p>
        </p:txBody>
      </p:sp>
      <p:pic>
        <p:nvPicPr>
          <p:cNvPr id="5" name="Picture 4" descr="10_attrition_worklife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46120"/>
            <a:ext cx="4972152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79"/>
            <a:ext cx="4972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200" b="0" i="1">
                <a:solidFill>
                  <a:srgbClr val="54626F"/>
                </a:solidFill>
                <a:latin typeface="Noto Sans"/>
              </a:rPr>
              <a:t>Attrition rate per tingkat work life balance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365760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0E4D7A"/>
                </a:solidFill>
                <a:latin typeface="Noto Sans"/>
              </a:rPr>
              <a:t>31,3%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B2A44"/>
                </a:solidFill>
                <a:latin typeface="Noto Sans"/>
              </a:rPr>
              <a:t>attrition pada work life balance buruk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0B2A44"/>
                </a:solidFill>
                <a:latin typeface="Noto Sans"/>
              </a:rPr>
              <a:t>Temuan 5: Jarak, Dinas, dan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Jarak rumah 15 km atau lebih resign 20,6 persen, naik bertahap dari 13,6 persen untuk jarak dekat</a:t>
            </a:r>
          </a:p>
          <a:p>
            <a:pPr marL="171450" indent="-17145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Karyawan yang sering dinas resign 24,9 persen, dibanding tidak pernah dinas hanya 8,0 persen</a:t>
            </a:r>
          </a:p>
          <a:p>
            <a:pPr marL="171450" indent="-17145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Status single resign 25,5 persen, dua kali lipat dibanding menikah 12,5 persen</a:t>
            </a:r>
          </a:p>
          <a:p>
            <a:pPr marL="171450" indent="-17145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Stagnasi juga berbahaya: 6 tahun atau lebih tanpa promosi resign 16,3 persen, naik lagi setelah sempat turun</a:t>
            </a:r>
          </a:p>
        </p:txBody>
      </p:sp>
      <p:pic>
        <p:nvPicPr>
          <p:cNvPr id="4" name="Picture 3" descr="12_attrition_demografi_tra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508760"/>
            <a:ext cx="5669280" cy="38815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35040" y="550001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200" b="0" i="1">
                <a:solidFill>
                  <a:srgbClr val="54626F"/>
                </a:solidFill>
                <a:latin typeface="Noto Sans"/>
              </a:rPr>
              <a:t>Attrition: demografi dan frekuensi dinas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0B2A44"/>
                </a:solidFill>
                <a:latin typeface="Noto Sans"/>
              </a:rPr>
              <a:t>Rekomendasi Retensi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682496"/>
            <a:ext cx="146304" cy="146304"/>
          </a:xfrm>
          <a:prstGeom prst="rect">
            <a:avLst/>
          </a:prstGeom>
          <a:solidFill>
            <a:srgbClr val="0E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600200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0B2A44"/>
                </a:solidFill>
                <a:latin typeface="Noto Sans"/>
              </a:rPr>
              <a:t>Bangun program onboarding 2 tahun pertama yang terstruktur: buddy, mentor, dan check in karier berkala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615184"/>
            <a:ext cx="146304" cy="146304"/>
          </a:xfrm>
          <a:prstGeom prst="rect">
            <a:avLst/>
          </a:prstGeom>
          <a:solidFill>
            <a:srgbClr val="0E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532888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0B2A44"/>
                </a:solidFill>
                <a:latin typeface="Noto Sans"/>
              </a:rPr>
              <a:t>Kelola lembur dengan ketat plus cuti pengganti, prioritaskan tim Sales dan laboratorium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547872"/>
            <a:ext cx="146304" cy="146304"/>
          </a:xfrm>
          <a:prstGeom prst="rect">
            <a:avLst/>
          </a:prstGeom>
          <a:solidFill>
            <a:srgbClr val="0E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46557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0B2A44"/>
                </a:solidFill>
                <a:latin typeface="Noto Sans"/>
              </a:rPr>
              <a:t>Tinjau ulang gaji, bonus, dan jalur promosi untuk Sales Representative dan Laboratory Technician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480560"/>
            <a:ext cx="146304" cy="146304"/>
          </a:xfrm>
          <a:prstGeom prst="rect">
            <a:avLst/>
          </a:prstGeom>
          <a:solidFill>
            <a:srgbClr val="0E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39826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0B2A44"/>
                </a:solidFill>
                <a:latin typeface="Noto Sans"/>
              </a:rPr>
              <a:t>Tawarkan fleksibilitas hybrid, tunjangan transportasi, dan rotasi jadwal dinas untuk yang jaraknya jauh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413248"/>
            <a:ext cx="146304" cy="146304"/>
          </a:xfrm>
          <a:prstGeom prst="rect">
            <a:avLst/>
          </a:prstGeom>
          <a:solidFill>
            <a:srgbClr val="0E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53309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0B2A44"/>
                </a:solidFill>
                <a:latin typeface="Noto Sans"/>
              </a:rPr>
              <a:t>Jadikan survei kepuasan sebagai pemicu intervensi dini per tim sebelum terlambat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502920" cy="118872"/>
          </a:xfrm>
          <a:prstGeom prst="rect">
            <a:avLst/>
          </a:prstGeom>
          <a:solidFill>
            <a:srgbClr val="F5C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Noto Sans"/>
              </a:rPr>
              <a:t>Kesimpulan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700" b="0" i="0">
                <a:solidFill>
                  <a:srgbClr val="FFFFFF"/>
                </a:solidFill>
                <a:latin typeface="Noto Sans"/>
              </a:rPr>
              <a:t>Lembur, gaji rendah, dan masa kerja pendek adalah tiga pendorong resign terbesar</a:t>
            </a:r>
          </a:p>
          <a:p>
            <a:pPr marL="171450" indent="-171450"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700" b="0" i="0">
                <a:solidFill>
                  <a:srgbClr val="FFFFFF"/>
                </a:solidFill>
                <a:latin typeface="Noto Sans"/>
              </a:rPr>
              <a:t>Fokus retensi pada Sales Representative, karyawan muda, dan dua tahun pertama</a:t>
            </a:r>
          </a:p>
          <a:p>
            <a:pPr marL="171450" indent="-171450">
              <a:spcBef>
                <a:spcPts val="0"/>
              </a:spcBef>
              <a:spcAft>
                <a:spcPts val="0"/>
              </a:spcAft>
              <a:buChar char="•"/>
            </a:pPr>
            <a:r>
              <a:rPr sz="1700" b="0" i="0">
                <a:solidFill>
                  <a:srgbClr val="FFFFFF"/>
                </a:solidFill>
                <a:latin typeface="Noto Sans"/>
              </a:rPr>
              <a:t>Tech stack: SQL di SQLite, Python dengan pandas, matplotlib, dan seaborn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09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5C542"/>
                </a:solidFill>
                <a:latin typeface="Noto Sans"/>
              </a:rPr>
              <a:t>BAGHIZ ASSHIDDIQIE ARASYA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Noto Sans"/>
              </a:rPr>
              <a:t>Terbuka untuk peluang data analyst dan diskusi seputar people analytics.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9D6E2"/>
                </a:solidFill>
                <a:latin typeface="Noto Sans"/>
              </a:rPr>
              <a:t>github.com/baghizash/ibm-hr-attrition-people-analytics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